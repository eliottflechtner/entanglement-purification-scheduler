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 showSpecialPlsOnTitleSld="0">
  <p:sldMasterIdLst>
    <p:sldMasterId id="2147483648" r:id="rId1"/>
  </p:sldMasterIdLst>
  <p:notesMasterIdLst>
    <p:notesMasterId r:id="rId7"/>
  </p:notesMasterIdLst>
  <p:sldIdLst>
    <p:sldId id="256" r:id="rId4"/>
    <p:sldId id="257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 /><Relationship Id="rId9" Type="http://schemas.openxmlformats.org/officeDocument/2006/relationships/tableStyles" Target="tableStyles.xml" /><Relationship Id="rId1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84735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3126102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903990496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16337405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9987209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46325182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ftr="0" hdr="0" sldNum="1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72027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725999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569504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017B83-5FA9-6BDA-C2FB-DF8D1303CE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6641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06136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16161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6C6073-3EB0-FFC9-6883-47D443359C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416307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61907040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01907228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Eliott Flechtner</a:t>
            </a:r>
            <a:endParaRPr/>
          </a:p>
        </p:txBody>
      </p:sp>
      <p:sp>
        <p:nvSpPr>
          <p:cNvPr id="138487560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Entanglement Purification Scheduling in All-Photonic Repeaters</a:t>
            </a:r>
            <a:endParaRPr/>
          </a:p>
        </p:txBody>
      </p:sp>
      <p:sp>
        <p:nvSpPr>
          <p:cNvPr id="12242985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125391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6983911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3572640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Eliott Flechtner</a:t>
            </a:r>
            <a:endParaRPr/>
          </a:p>
        </p:txBody>
      </p:sp>
      <p:sp>
        <p:nvSpPr>
          <p:cNvPr id="205562471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Entanglement Purification Scheduling in All-Photonic Repeaters</a:t>
            </a:r>
            <a:endParaRPr/>
          </a:p>
        </p:txBody>
      </p:sp>
      <p:sp>
        <p:nvSpPr>
          <p:cNvPr id="184410025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6970270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9891666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9212683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Eliott Flechtner</a:t>
            </a:r>
            <a:endParaRPr/>
          </a:p>
        </p:txBody>
      </p:sp>
      <p:sp>
        <p:nvSpPr>
          <p:cNvPr id="196993501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Entanglement Purification Scheduling in All-Photonic Repeaters</a:t>
            </a:r>
            <a:endParaRPr/>
          </a:p>
        </p:txBody>
      </p:sp>
      <p:sp>
        <p:nvSpPr>
          <p:cNvPr id="179494138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992447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1680689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7360516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5363005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Eliott Flechtner</a:t>
            </a:r>
            <a:endParaRPr/>
          </a:p>
        </p:txBody>
      </p:sp>
      <p:sp>
        <p:nvSpPr>
          <p:cNvPr id="131084289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Entanglement Purification Scheduling in All-Photonic Repeaters</a:t>
            </a:r>
            <a:endParaRPr/>
          </a:p>
        </p:txBody>
      </p:sp>
      <p:sp>
        <p:nvSpPr>
          <p:cNvPr id="19710578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5956293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4970403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3772042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05505751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4171758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78704932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Eliott Flechtner</a:t>
            </a:r>
            <a:endParaRPr/>
          </a:p>
        </p:txBody>
      </p:sp>
      <p:sp>
        <p:nvSpPr>
          <p:cNvPr id="162962383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Entanglement Purification Scheduling in All-Photonic Repeaters</a:t>
            </a:r>
            <a:endParaRPr/>
          </a:p>
        </p:txBody>
      </p:sp>
      <p:sp>
        <p:nvSpPr>
          <p:cNvPr id="107934921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718453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1810886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Eliott Flechtner</a:t>
            </a:r>
            <a:endParaRPr/>
          </a:p>
        </p:txBody>
      </p:sp>
      <p:sp>
        <p:nvSpPr>
          <p:cNvPr id="150016061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Entanglement Purification Scheduling in All-Photonic Repeaters</a:t>
            </a:r>
            <a:endParaRPr/>
          </a:p>
        </p:txBody>
      </p:sp>
      <p:sp>
        <p:nvSpPr>
          <p:cNvPr id="962762203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814469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Eliott Flechtner</a:t>
            </a:r>
            <a:endParaRPr/>
          </a:p>
        </p:txBody>
      </p:sp>
      <p:sp>
        <p:nvSpPr>
          <p:cNvPr id="176507434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Entanglement Purification Scheduling in All-Photonic Repeaters</a:t>
            </a:r>
            <a:endParaRPr/>
          </a:p>
        </p:txBody>
      </p:sp>
      <p:sp>
        <p:nvSpPr>
          <p:cNvPr id="46774708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656373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92485136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2497867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9505996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Eliott Flechtner</a:t>
            </a:r>
            <a:endParaRPr/>
          </a:p>
        </p:txBody>
      </p:sp>
      <p:sp>
        <p:nvSpPr>
          <p:cNvPr id="26138238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Entanglement Purification Scheduling in All-Photonic Repeaters</a:t>
            </a:r>
            <a:endParaRPr/>
          </a:p>
        </p:txBody>
      </p:sp>
      <p:sp>
        <p:nvSpPr>
          <p:cNvPr id="35197975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205915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69331782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06814807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3710966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Eliott Flechtner</a:t>
            </a:r>
            <a:endParaRPr/>
          </a:p>
        </p:txBody>
      </p:sp>
      <p:sp>
        <p:nvSpPr>
          <p:cNvPr id="212539359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Entanglement Purification Scheduling in All-Photonic Repeaters</a:t>
            </a:r>
            <a:endParaRPr/>
          </a:p>
        </p:txBody>
      </p:sp>
      <p:sp>
        <p:nvSpPr>
          <p:cNvPr id="19432675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309746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52465170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1384550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Eliott Flechtner</a:t>
            </a:r>
            <a:endParaRPr/>
          </a:p>
        </p:txBody>
      </p:sp>
      <p:sp>
        <p:nvSpPr>
          <p:cNvPr id="103409341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Entanglement Purification Scheduling in All-Photonic Repeaters</a:t>
            </a:r>
            <a:endParaRPr/>
          </a:p>
        </p:txBody>
      </p:sp>
      <p:sp>
        <p:nvSpPr>
          <p:cNvPr id="27529261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583860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2559104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6997376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Eliott Flechtner</a:t>
            </a:r>
            <a:endParaRPr/>
          </a:p>
        </p:txBody>
      </p:sp>
      <p:sp>
        <p:nvSpPr>
          <p:cNvPr id="138893490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Entanglement Purification Scheduling in All-Photonic Repeaters</a:t>
            </a:r>
            <a:endParaRPr/>
          </a:p>
        </p:txBody>
      </p:sp>
      <p:sp>
        <p:nvSpPr>
          <p:cNvPr id="33735323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5511059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9850891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6890309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/>
              <a:t>Eliott Flechtner</a:t>
            </a:r>
            <a:endParaRPr/>
          </a:p>
        </p:txBody>
      </p:sp>
      <p:sp>
        <p:nvSpPr>
          <p:cNvPr id="46314721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/>
              <a:t>Entanglement Purification Scheduling in All-Photonic Repeaters</a:t>
            </a:r>
            <a:endParaRPr/>
          </a:p>
        </p:txBody>
      </p:sp>
      <p:sp>
        <p:nvSpPr>
          <p:cNvPr id="197709475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1" ftr="1" hdr="0" sldNum="1"/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5769242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1992811" y="1797704"/>
            <a:ext cx="8206376" cy="1782884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/>
          <a:p>
            <a:pPr>
              <a:defRPr/>
            </a:pPr>
            <a:r>
              <a:rPr sz="3400" b="1" i="0" u="none">
                <a:solidFill>
                  <a:srgbClr val="000000"/>
                </a:solidFill>
                <a:latin typeface="C059"/>
                <a:ea typeface="C059"/>
                <a:cs typeface="C059"/>
              </a:rPr>
              <a:t>Non-Adaptive Scheduling of</a:t>
            </a:r>
            <a:br>
              <a:rPr sz="3400" b="1" i="0" u="none">
                <a:solidFill>
                  <a:srgbClr val="000000"/>
                </a:solidFill>
                <a:latin typeface="C059"/>
                <a:ea typeface="C059"/>
                <a:cs typeface="C059"/>
              </a:rPr>
            </a:br>
            <a:r>
              <a:rPr sz="3400" b="1" i="0" u="none">
                <a:solidFill>
                  <a:srgbClr val="000000"/>
                </a:solidFill>
                <a:latin typeface="C059"/>
                <a:ea typeface="C059"/>
                <a:cs typeface="C059"/>
              </a:rPr>
              <a:t>Entanglement Purification for</a:t>
            </a:r>
            <a:br>
              <a:rPr sz="3400" b="1" i="0" u="none">
                <a:solidFill>
                  <a:srgbClr val="000000"/>
                </a:solidFill>
                <a:latin typeface="C059"/>
                <a:ea typeface="C059"/>
                <a:cs typeface="C059"/>
              </a:rPr>
            </a:br>
            <a:r>
              <a:rPr sz="3400" b="1" i="0" u="none">
                <a:solidFill>
                  <a:srgbClr val="000000"/>
                </a:solidFill>
                <a:latin typeface="C059"/>
                <a:ea typeface="C059"/>
                <a:cs typeface="C059"/>
              </a:rPr>
              <a:t>All-Photonic Quantum Repeaters</a:t>
            </a:r>
            <a:endParaRPr sz="3400" b="1">
              <a:latin typeface="C059"/>
              <a:cs typeface="C059"/>
            </a:endParaRPr>
          </a:p>
        </p:txBody>
      </p:sp>
      <p:sp>
        <p:nvSpPr>
          <p:cNvPr id="1624225248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3820794" y="3657774"/>
            <a:ext cx="4550409" cy="37805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fr-FR" sz="1800">
                <a:latin typeface="C059"/>
                <a:ea typeface="C059"/>
                <a:cs typeface="C059"/>
              </a:rPr>
              <a:t>Internship Report Defense — M2 QMI</a:t>
            </a:r>
            <a:endParaRPr sz="1800">
              <a:latin typeface="C059"/>
              <a:cs typeface="C059"/>
            </a:endParaRPr>
          </a:p>
        </p:txBody>
      </p:sp>
      <p:pic>
        <p:nvPicPr>
          <p:cNvPr id="2444823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9729005" y="297228"/>
            <a:ext cx="2118816" cy="1434625"/>
          </a:xfrm>
          <a:prstGeom prst="rect">
            <a:avLst/>
          </a:prstGeom>
        </p:spPr>
      </p:pic>
      <p:sp>
        <p:nvSpPr>
          <p:cNvPr id="435169757" name=""/>
          <p:cNvSpPr txBox="1"/>
          <p:nvPr/>
        </p:nvSpPr>
        <p:spPr bwMode="auto">
          <a:xfrm rot="0" flipH="0" flipV="0">
            <a:off x="1909753" y="4171461"/>
            <a:ext cx="8378252" cy="1158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fr-FR" sz="2200" b="1" i="0" u="none">
                <a:solidFill>
                  <a:srgbClr val="000000"/>
                </a:solidFill>
                <a:latin typeface="C059"/>
                <a:ea typeface="C059"/>
                <a:cs typeface="C059"/>
              </a:rPr>
              <a:t>Eliott Flechtner</a:t>
            </a:r>
            <a:br>
              <a:rPr lang="fr-FR" sz="2200" b="1" i="0" u="none">
                <a:solidFill>
                  <a:srgbClr val="000000"/>
                </a:solidFill>
                <a:latin typeface="C059"/>
                <a:ea typeface="C059"/>
                <a:cs typeface="C059"/>
              </a:rPr>
            </a:br>
            <a:r>
              <a:rPr lang="fr-FR" sz="1600" b="0" i="0" u="none">
                <a:solidFill>
                  <a:srgbClr val="000000"/>
                </a:solidFill>
                <a:latin typeface="C059"/>
                <a:ea typeface="C059"/>
                <a:cs typeface="C059"/>
              </a:rPr>
              <a:t>EPITA</a:t>
            </a:r>
            <a:r>
              <a:rPr lang="fr-FR" sz="1600" b="0" i="0" u="none">
                <a:solidFill>
                  <a:srgbClr val="000000"/>
                </a:solidFill>
                <a:latin typeface="C059"/>
                <a:ea typeface="C059"/>
                <a:cs typeface="C059"/>
              </a:rPr>
              <a:t> </a:t>
            </a:r>
            <a:r>
              <a:rPr sz="1600" b="0" i="0" u="none">
                <a:solidFill>
                  <a:srgbClr val="000000"/>
                </a:solidFill>
                <a:latin typeface="C059"/>
                <a:ea typeface="C059"/>
                <a:cs typeface="C059"/>
              </a:rPr>
              <a:t>• </a:t>
            </a:r>
            <a:r>
              <a:rPr lang="fr-FR" sz="1600" b="0" i="0" u="none">
                <a:solidFill>
                  <a:srgbClr val="000000"/>
                </a:solidFill>
                <a:latin typeface="C059"/>
                <a:ea typeface="C059"/>
                <a:cs typeface="C059"/>
              </a:rPr>
              <a:t>Institut Polytechnique de Paris</a:t>
            </a:r>
            <a:br>
              <a:rPr lang="fr-FR" sz="2200" b="0" i="0" u="none">
                <a:solidFill>
                  <a:srgbClr val="000000"/>
                </a:solidFill>
                <a:latin typeface="C059"/>
                <a:ea typeface="C059"/>
                <a:cs typeface="C059"/>
              </a:rPr>
            </a:br>
            <a:r>
              <a:rPr lang="fr-FR" sz="1600" b="0" i="0" u="sng">
                <a:solidFill>
                  <a:srgbClr val="000000"/>
                </a:solidFill>
                <a:latin typeface="C059"/>
                <a:ea typeface="C059"/>
                <a:cs typeface="C059"/>
              </a:rPr>
              <a:t>Host Lab:</a:t>
            </a:r>
            <a:r>
              <a:rPr lang="fr-FR" sz="1600" b="0" i="0" u="none">
                <a:solidFill>
                  <a:srgbClr val="000000"/>
                </a:solidFill>
                <a:latin typeface="C059"/>
                <a:ea typeface="C059"/>
                <a:cs typeface="C059"/>
              </a:rPr>
              <a:t> AQUA (Advancing QUantum Architecture)</a:t>
            </a:r>
            <a:endParaRPr sz="1600" b="0" i="0" u="none">
              <a:solidFill>
                <a:srgbClr val="000000"/>
              </a:solidFill>
              <a:latin typeface="C059"/>
              <a:ea typeface="C059"/>
              <a:cs typeface="C059"/>
            </a:endParaRPr>
          </a:p>
          <a:p>
            <a:pPr algn="ctr">
              <a:defRPr/>
            </a:pPr>
            <a:r>
              <a:rPr lang="fr-FR" sz="1600" b="0" i="0" u="none">
                <a:solidFill>
                  <a:srgbClr val="000000"/>
                </a:solidFill>
                <a:latin typeface="C059"/>
                <a:ea typeface="C059"/>
                <a:cs typeface="C059"/>
              </a:rPr>
              <a:t>Keio University, Tokyo, Japan</a:t>
            </a:r>
            <a:endParaRPr sz="2000" b="0" i="0" u="none">
              <a:solidFill>
                <a:srgbClr val="000000"/>
              </a:solidFill>
              <a:latin typeface="C059"/>
              <a:ea typeface="C059"/>
              <a:cs typeface="C059"/>
            </a:endParaRPr>
          </a:p>
        </p:txBody>
      </p:sp>
      <p:sp>
        <p:nvSpPr>
          <p:cNvPr id="1570517914" name=""/>
          <p:cNvSpPr txBox="1"/>
          <p:nvPr/>
        </p:nvSpPr>
        <p:spPr bwMode="auto">
          <a:xfrm rot="0" flipH="0" flipV="0">
            <a:off x="115810" y="5330091"/>
            <a:ext cx="4745100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fr-FR" sz="1800" b="1" i="0" u="none">
                <a:solidFill>
                  <a:srgbClr val="000000"/>
                </a:solidFill>
                <a:latin typeface="C059"/>
                <a:ea typeface="C059"/>
                <a:cs typeface="C059"/>
              </a:rPr>
              <a:t>Supervisors:</a:t>
            </a:r>
            <a:endParaRPr sz="1800" b="0" i="0" u="none">
              <a:solidFill>
                <a:srgbClr val="000000"/>
              </a:solidFill>
              <a:latin typeface="C059"/>
              <a:cs typeface="C059"/>
            </a:endParaRPr>
          </a:p>
          <a:p>
            <a:pPr algn="l">
              <a:defRPr/>
            </a:pPr>
            <a:r>
              <a:rPr lang="fr-FR" sz="1800" b="0" i="0" u="none">
                <a:solidFill>
                  <a:srgbClr val="000000"/>
                </a:solidFill>
                <a:latin typeface="C059"/>
                <a:ea typeface="C059"/>
                <a:cs typeface="C059"/>
              </a:rPr>
              <a:t>Professor	Rodney Van Meter</a:t>
            </a:r>
            <a:endParaRPr sz="1800" b="0" i="0" u="none">
              <a:solidFill>
                <a:srgbClr val="000000"/>
              </a:solidFill>
              <a:latin typeface="C059"/>
              <a:cs typeface="C059"/>
            </a:endParaRPr>
          </a:p>
          <a:p>
            <a:pPr algn="l">
              <a:defRPr/>
            </a:pPr>
            <a:r>
              <a:rPr lang="fr-FR" sz="1800" b="0" i="0" u="none">
                <a:solidFill>
                  <a:srgbClr val="000000"/>
                </a:solidFill>
                <a:latin typeface="C059"/>
                <a:ea typeface="C059"/>
                <a:cs typeface="C059"/>
              </a:rPr>
              <a:t>Associate Prof. 	Michal </a:t>
            </a:r>
            <a:r>
              <a:rPr sz="1800" b="0" i="0" u="none">
                <a:solidFill>
                  <a:srgbClr val="000000"/>
                </a:solidFill>
                <a:latin typeface="C059"/>
                <a:ea typeface="C059"/>
                <a:cs typeface="C059"/>
              </a:rPr>
              <a:t>Hajdušek</a:t>
            </a:r>
            <a:endParaRPr sz="1800" b="0" i="0" u="none">
              <a:solidFill>
                <a:srgbClr val="000000"/>
              </a:solidFill>
              <a:latin typeface="C059"/>
              <a:cs typeface="C059"/>
            </a:endParaRPr>
          </a:p>
          <a:p>
            <a:pPr algn="l">
              <a:defRPr/>
            </a:pPr>
            <a:r>
              <a:rPr lang="fr-FR" sz="1800" b="0" i="0" u="none">
                <a:solidFill>
                  <a:srgbClr val="000000"/>
                </a:solidFill>
                <a:latin typeface="C059"/>
                <a:ea typeface="C059"/>
                <a:cs typeface="C059"/>
              </a:rPr>
              <a:t>Assistant Prof. 	Nap</a:t>
            </a:r>
            <a:r>
              <a:rPr lang="fr-FR" sz="1800" b="0" i="0" u="none">
                <a:solidFill>
                  <a:srgbClr val="000000"/>
                </a:solidFill>
                <a:latin typeface="C059"/>
                <a:ea typeface="C059"/>
                <a:cs typeface="C059"/>
              </a:rPr>
              <a:t>han Benchasattabuse</a:t>
            </a:r>
            <a:endParaRPr lang="fr-FR" sz="1800" b="0" i="0" u="none">
              <a:solidFill>
                <a:srgbClr val="000000"/>
              </a:solidFill>
              <a:latin typeface="C059"/>
              <a:ea typeface="C059"/>
              <a:cs typeface="C059"/>
            </a:endParaRPr>
          </a:p>
        </p:txBody>
      </p:sp>
      <p:sp>
        <p:nvSpPr>
          <p:cNvPr id="1552510529" name=""/>
          <p:cNvSpPr txBox="1"/>
          <p:nvPr/>
        </p:nvSpPr>
        <p:spPr bwMode="auto">
          <a:xfrm rot="0" flipH="0" flipV="0">
            <a:off x="8059615" y="5330091"/>
            <a:ext cx="3932835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fr-FR" sz="1800" b="1" i="0" u="none">
                <a:solidFill>
                  <a:srgbClr val="000000"/>
                </a:solidFill>
                <a:latin typeface="C059"/>
                <a:ea typeface="C059"/>
                <a:cs typeface="C059"/>
              </a:rPr>
              <a:t>Jury Members (Quriosity) :</a:t>
            </a:r>
            <a:endParaRPr sz="1800" b="0" i="0" u="none">
              <a:solidFill>
                <a:srgbClr val="000000"/>
              </a:solidFill>
              <a:latin typeface="C059"/>
              <a:cs typeface="C059"/>
            </a:endParaRPr>
          </a:p>
          <a:p>
            <a:pPr algn="l">
              <a:defRPr/>
            </a:pPr>
            <a:r>
              <a:rPr lang="fr-FR" sz="1800" b="0" i="0" u="none">
                <a:solidFill>
                  <a:srgbClr val="000000"/>
                </a:solidFill>
                <a:latin typeface="C059"/>
                <a:ea typeface="C059"/>
                <a:cs typeface="C059"/>
              </a:rPr>
              <a:t>Professor	Romain Alléaume</a:t>
            </a:r>
            <a:endParaRPr sz="1800" b="0" i="0" u="none">
              <a:solidFill>
                <a:srgbClr val="000000"/>
              </a:solidFill>
              <a:latin typeface="C059"/>
              <a:cs typeface="C059"/>
            </a:endParaRPr>
          </a:p>
          <a:p>
            <a:pPr algn="l">
              <a:defRPr/>
            </a:pPr>
            <a:r>
              <a:rPr lang="fr-FR" sz="1800" b="0" i="0" u="none">
                <a:solidFill>
                  <a:srgbClr val="000000"/>
                </a:solidFill>
                <a:latin typeface="C059"/>
                <a:ea typeface="C059"/>
                <a:cs typeface="C059"/>
              </a:rPr>
              <a:t>Associate </a:t>
            </a:r>
            <a:r>
              <a:rPr lang="fr-FR" sz="1800" b="0" i="0" u="none">
                <a:solidFill>
                  <a:srgbClr val="000000"/>
                </a:solidFill>
                <a:latin typeface="C059"/>
                <a:ea typeface="C059"/>
                <a:cs typeface="C059"/>
              </a:rPr>
              <a:t>Prof.	Peter Brown</a:t>
            </a:r>
            <a:endParaRPr sz="1800" b="0" i="0" u="none">
              <a:solidFill>
                <a:srgbClr val="000000"/>
              </a:solidFill>
              <a:latin typeface="C059"/>
              <a:ea typeface="C059"/>
              <a:cs typeface="C059"/>
            </a:endParaRPr>
          </a:p>
          <a:p>
            <a:pPr algn="l">
              <a:defRPr/>
            </a:pPr>
            <a:r>
              <a:rPr lang="fr-FR" sz="1800" b="0" i="0" u="none">
                <a:solidFill>
                  <a:srgbClr val="000000"/>
                </a:solidFill>
                <a:latin typeface="C059"/>
                <a:ea typeface="C059"/>
                <a:cs typeface="C059"/>
              </a:rPr>
              <a:t>(Supervisors attending online)</a:t>
            </a:r>
            <a:endParaRPr sz="1800" b="0" i="0" u="none">
              <a:solidFill>
                <a:srgbClr val="000000"/>
              </a:solidFill>
              <a:latin typeface="C059"/>
              <a:cs typeface="C059"/>
            </a:endParaRPr>
          </a:p>
        </p:txBody>
      </p:sp>
      <p:sp>
        <p:nvSpPr>
          <p:cNvPr id="777977675" name=""/>
          <p:cNvSpPr/>
          <p:nvPr/>
        </p:nvSpPr>
        <p:spPr bwMode="auto">
          <a:xfrm flipH="0" flipV="0">
            <a:off x="5242163" y="6445902"/>
            <a:ext cx="1707672" cy="3661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800" b="0" i="1" u="none">
                <a:solidFill>
                  <a:srgbClr val="000000"/>
                </a:solidFill>
                <a:latin typeface="C059"/>
                <a:ea typeface="C059"/>
                <a:cs typeface="C059"/>
              </a:rPr>
              <a:t>October 2026</a:t>
            </a:r>
            <a:endParaRPr sz="2400" b="0">
              <a:latin typeface="C059"/>
              <a:cs typeface="C059"/>
            </a:endParaRPr>
          </a:p>
        </p:txBody>
      </p:sp>
      <p:grpSp>
        <p:nvGrpSpPr>
          <p:cNvPr id="1641261275" name=""/>
          <p:cNvGrpSpPr/>
          <p:nvPr/>
        </p:nvGrpSpPr>
        <p:grpSpPr bwMode="auto">
          <a:xfrm flipH="0" flipV="0">
            <a:off x="447330" y="297228"/>
            <a:ext cx="1317634" cy="1583348"/>
            <a:chOff x="0" y="0"/>
            <a:chExt cx="1317634" cy="1583348"/>
          </a:xfrm>
        </p:grpSpPr>
        <p:pic>
          <p:nvPicPr>
            <p:cNvPr id="923339336" name=""/>
            <p:cNvPicPr>
              <a:picLocks noChangeAspect="1"/>
            </p:cNvPicPr>
            <p:nvPr/>
          </p:nvPicPr>
          <p:blipFill rotWithShape="1">
            <a:blip r:embed="rId4"/>
            <a:srcRect l="27846" t="0" r="0" b="0"/>
            <a:stretch/>
          </p:blipFill>
          <p:spPr bwMode="auto">
            <a:xfrm flipH="0" flipV="0">
              <a:off x="0" y="1076066"/>
              <a:ext cx="1317634" cy="507281"/>
            </a:xfrm>
            <a:prstGeom prst="rect">
              <a:avLst/>
            </a:prstGeom>
          </p:spPr>
        </p:pic>
        <p:pic>
          <p:nvPicPr>
            <p:cNvPr id="586817109" name=""/>
            <p:cNvPicPr>
              <a:picLocks noChangeAspect="1"/>
            </p:cNvPicPr>
            <p:nvPr/>
          </p:nvPicPr>
          <p:blipFill rotWithShape="1">
            <a:blip r:embed="rId4"/>
            <a:srcRect l="0" t="0" r="75138" b="13094"/>
            <a:stretch/>
          </p:blipFill>
          <p:spPr bwMode="auto">
            <a:xfrm flipH="0" flipV="0">
              <a:off x="128941" y="0"/>
              <a:ext cx="1059750" cy="1029047"/>
            </a:xfrm>
            <a:prstGeom prst="rect">
              <a:avLst/>
            </a:prstGeom>
          </p:spPr>
        </p:pic>
      </p:grpSp>
      <p:grpSp>
        <p:nvGrpSpPr>
          <p:cNvPr id="2131160191" name=""/>
          <p:cNvGrpSpPr/>
          <p:nvPr/>
        </p:nvGrpSpPr>
        <p:grpSpPr bwMode="auto">
          <a:xfrm>
            <a:off x="4652331" y="323872"/>
            <a:ext cx="2887336" cy="1381337"/>
            <a:chOff x="0" y="0"/>
            <a:chExt cx="2887336" cy="1381337"/>
          </a:xfrm>
        </p:grpSpPr>
        <p:pic>
          <p:nvPicPr>
            <p:cNvPr id="1025107596" name=""/>
            <p:cNvPicPr>
              <a:picLocks noChangeAspect="1"/>
            </p:cNvPicPr>
            <p:nvPr/>
          </p:nvPicPr>
          <p:blipFill rotWithShape="1">
            <a:blip r:embed="rId5"/>
            <a:srcRect l="5663" t="4768" r="7164" b="32550"/>
            <a:stretch/>
          </p:blipFill>
          <p:spPr bwMode="auto">
            <a:xfrm flipH="0" flipV="0">
              <a:off x="1524886" y="0"/>
              <a:ext cx="1362449" cy="1381337"/>
            </a:xfrm>
            <a:prstGeom prst="rect">
              <a:avLst/>
            </a:prstGeom>
          </p:spPr>
        </p:pic>
        <p:pic>
          <p:nvPicPr>
            <p:cNvPr id="2122675439" name=""/>
            <p:cNvPicPr>
              <a:picLocks noChangeAspect="1"/>
            </p:cNvPicPr>
            <p:nvPr/>
          </p:nvPicPr>
          <p:blipFill rotWithShape="1">
            <a:blip r:embed="rId6"/>
            <a:stretch/>
          </p:blipFill>
          <p:spPr bwMode="auto">
            <a:xfrm flipH="0" flipV="0">
              <a:off x="0" y="19446"/>
              <a:ext cx="1342445" cy="1342445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865840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Table of contents / Summary</a:t>
            </a:r>
            <a:endParaRPr/>
          </a:p>
        </p:txBody>
      </p:sp>
      <p:sp>
        <p:nvSpPr>
          <p:cNvPr id="89284049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394023" indent="-394023">
              <a:buFont typeface="Arial"/>
              <a:buAutoNum type="arabicPeriod"/>
              <a:defRPr/>
            </a:pPr>
            <a:r>
              <a:rPr lang="fr-FR"/>
              <a:t>Context</a:t>
            </a:r>
            <a:endParaRPr lang="fr-FR"/>
          </a:p>
          <a:p>
            <a:pPr marL="394023" indent="-394023">
              <a:buFont typeface="Arial"/>
              <a:buAutoNum type="arabicPeriod"/>
              <a:defRPr/>
            </a:pPr>
            <a:r>
              <a:rPr lang="fr-FR"/>
              <a:t>Formal Model</a:t>
            </a:r>
            <a:endParaRPr lang="fr-FR"/>
          </a:p>
          <a:p>
            <a:pPr marL="394023" indent="-394023">
              <a:buFont typeface="Arial"/>
              <a:buAutoNum type="arabicPeriod"/>
              <a:defRPr/>
            </a:pPr>
            <a:r>
              <a:rPr lang="fr-FR"/>
              <a:t>Search Algorithms</a:t>
            </a:r>
            <a:endParaRPr lang="fr-FR"/>
          </a:p>
          <a:p>
            <a:pPr marL="394023" indent="-394023">
              <a:buFont typeface="Arial"/>
              <a:buAutoNum type="arabicPeriod"/>
              <a:defRPr/>
            </a:pPr>
            <a:r>
              <a:rPr lang="fr-FR"/>
              <a:t>Results</a:t>
            </a:r>
            <a:endParaRPr lang="fr-FR"/>
          </a:p>
          <a:p>
            <a:pPr marL="394023" indent="-394023">
              <a:buFont typeface="Arial"/>
              <a:buAutoNum type="arabicPeriod"/>
              <a:defRPr/>
            </a:pPr>
            <a:r>
              <a:rPr lang="fr-FR"/>
              <a:t>Discussion, Conclusion, Future work</a:t>
            </a:r>
            <a:endParaRPr lang="fr-FR"/>
          </a:p>
        </p:txBody>
      </p:sp>
      <p:sp>
        <p:nvSpPr>
          <p:cNvPr id="380839846" name="Footer Placeholder 4"/>
          <p:cNvSpPr>
            <a:spLocks noGrp="1"/>
          </p:cNvSpPr>
          <p:nvPr>
            <p:ph type="ftr" sz="quarter" idx="11"/>
          </p:nvPr>
        </p:nvSpPr>
        <p:spPr bwMode="auto">
          <a:xfrm flipH="0" flipV="0">
            <a:off x="3413737" y="6356349"/>
            <a:ext cx="5364524" cy="365124"/>
          </a:xfrm>
        </p:spPr>
        <p:txBody>
          <a:bodyPr/>
          <a:lstStyle/>
          <a:p>
            <a:pPr>
              <a:defRPr/>
            </a:pPr>
            <a:r>
              <a:rPr b="1">
                <a:latin typeface="C059"/>
                <a:ea typeface="C059"/>
                <a:cs typeface="C059"/>
              </a:rPr>
              <a:t>Entanglement Purification Scheduling in All-Photonic Repeaters</a:t>
            </a:r>
            <a:endParaRPr b="1">
              <a:latin typeface="C059"/>
              <a:cs typeface="C059"/>
            </a:endParaRPr>
          </a:p>
        </p:txBody>
      </p:sp>
      <p:sp>
        <p:nvSpPr>
          <p:cNvPr id="191982212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841F3F1-863B-45B3-9EFF-8050A6278B00}" type="slidenum">
              <a:rPr lang="en-US" b="1">
                <a:latin typeface="C059"/>
                <a:ea typeface="C059"/>
                <a:cs typeface="C059"/>
              </a:rPr>
              <a:t>&lt;#&gt;</a:t>
            </a:fld>
            <a:endParaRPr b="1">
              <a:latin typeface="C059"/>
              <a:cs typeface="C059"/>
            </a:endParaRPr>
          </a:p>
        </p:txBody>
      </p:sp>
      <p:sp>
        <p:nvSpPr>
          <p:cNvPr id="1452169248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361949" y="6356349"/>
            <a:ext cx="2743200" cy="365124"/>
          </a:xfrm>
        </p:spPr>
        <p:txBody>
          <a:bodyPr/>
          <a:lstStyle/>
          <a:p>
            <a:pPr>
              <a:defRPr/>
            </a:pPr>
            <a:r>
              <a:rPr b="1">
                <a:latin typeface="C059"/>
                <a:ea typeface="C059"/>
                <a:cs typeface="C059"/>
              </a:rPr>
              <a:t>Eliott Flechtner</a:t>
            </a:r>
            <a:endParaRPr b="1">
              <a:latin typeface="C059"/>
              <a:cs typeface="C059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887800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419099" y="460374"/>
            <a:ext cx="10515600" cy="644524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rgbClr val="000000"/>
                </a:solidFill>
                <a:latin typeface="C059"/>
                <a:ea typeface="C059"/>
                <a:cs typeface="C059"/>
              </a:rPr>
              <a:t>Long-Distance Entanglement &amp; All-Photonic Repeaters</a:t>
            </a:r>
            <a:endParaRPr sz="12000">
              <a:latin typeface="C059"/>
              <a:cs typeface="C059"/>
            </a:endParaRPr>
          </a:p>
        </p:txBody>
      </p:sp>
      <p:sp>
        <p:nvSpPr>
          <p:cNvPr id="1467501647" name="Footer Placeholder 4"/>
          <p:cNvSpPr>
            <a:spLocks noGrp="1"/>
          </p:cNvSpPr>
          <p:nvPr>
            <p:ph type="ftr" sz="quarter" idx="11"/>
          </p:nvPr>
        </p:nvSpPr>
        <p:spPr bwMode="auto">
          <a:xfrm flipH="0" flipV="0">
            <a:off x="3413736" y="6356349"/>
            <a:ext cx="5364523" cy="365124"/>
          </a:xfrm>
        </p:spPr>
        <p:txBody>
          <a:bodyPr/>
          <a:lstStyle/>
          <a:p>
            <a:pPr>
              <a:defRPr/>
            </a:pPr>
            <a:r>
              <a:rPr b="1">
                <a:latin typeface="C059"/>
                <a:ea typeface="C059"/>
                <a:cs typeface="C059"/>
              </a:rPr>
              <a:t>Entanglement Purification Scheduling in All-Photonic Repeaters</a:t>
            </a:r>
            <a:endParaRPr b="1">
              <a:latin typeface="C059"/>
              <a:cs typeface="C059"/>
            </a:endParaRPr>
          </a:p>
        </p:txBody>
      </p:sp>
      <p:sp>
        <p:nvSpPr>
          <p:cNvPr id="164475651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A843F37-1890-F0A9-C16B-DD3D8D56930D}" type="slidenum">
              <a:rPr lang="en-US" b="1">
                <a:latin typeface="C059"/>
                <a:ea typeface="C059"/>
                <a:cs typeface="C059"/>
              </a:rPr>
              <a:t>2</a:t>
            </a:fld>
            <a:endParaRPr b="1">
              <a:latin typeface="C059"/>
              <a:cs typeface="C059"/>
            </a:endParaRPr>
          </a:p>
        </p:txBody>
      </p:sp>
      <p:sp>
        <p:nvSpPr>
          <p:cNvPr id="238709285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361949" y="6356349"/>
            <a:ext cx="2743200" cy="365124"/>
          </a:xfrm>
        </p:spPr>
        <p:txBody>
          <a:bodyPr/>
          <a:lstStyle/>
          <a:p>
            <a:pPr>
              <a:defRPr/>
            </a:pPr>
            <a:r>
              <a:rPr b="1">
                <a:latin typeface="C059"/>
                <a:ea typeface="C059"/>
                <a:cs typeface="C059"/>
              </a:rPr>
              <a:t>Eliott Flechtner</a:t>
            </a:r>
            <a:endParaRPr b="1">
              <a:latin typeface="C059"/>
              <a:cs typeface="C059"/>
            </a:endParaRPr>
          </a:p>
        </p:txBody>
      </p:sp>
      <p:sp>
        <p:nvSpPr>
          <p:cNvPr id="1530485400" name=""/>
          <p:cNvSpPr txBox="1"/>
          <p:nvPr/>
        </p:nvSpPr>
        <p:spPr bwMode="auto">
          <a:xfrm rot="0" flipH="0" flipV="0">
            <a:off x="628650" y="1630679"/>
            <a:ext cx="10397009" cy="379883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2200">
                <a:latin typeface="C059"/>
                <a:ea typeface="C059"/>
                <a:cs typeface="C059"/>
              </a:rPr>
              <a:t> </a:t>
            </a:r>
            <a:r>
              <a:rPr sz="2200" b="1">
                <a:latin typeface="C059"/>
                <a:ea typeface="C059"/>
                <a:cs typeface="C059"/>
              </a:rPr>
              <a:t>Challenge:</a:t>
            </a:r>
            <a:r>
              <a:rPr sz="2200">
                <a:latin typeface="C059"/>
                <a:ea typeface="C059"/>
                <a:cs typeface="C059"/>
              </a:rPr>
              <a:t> Direct photonic transmission is exponentially capped by attenuation ($\approx 0.2\text{ dB/km}$ in telecom C-band).</a:t>
            </a:r>
            <a:endParaRPr sz="2200">
              <a:latin typeface="C059"/>
              <a:cs typeface="C059"/>
            </a:endParaRPr>
          </a:p>
          <a:p>
            <a:pPr algn="l">
              <a:defRPr/>
            </a:pPr>
            <a:endParaRPr sz="2200">
              <a:latin typeface="C059"/>
              <a:ea typeface="C059"/>
              <a:cs typeface="C059"/>
            </a:endParaRPr>
          </a:p>
          <a:p>
            <a:pPr algn="l">
              <a:defRPr/>
            </a:pPr>
            <a:endParaRPr sz="2200">
              <a:latin typeface="C059"/>
              <a:ea typeface="C059"/>
              <a:cs typeface="C059"/>
            </a:endParaRPr>
          </a:p>
          <a:p>
            <a:pPr algn="l">
              <a:defRPr/>
            </a:pPr>
            <a:r>
              <a:rPr sz="2200" b="1">
                <a:latin typeface="C059"/>
                <a:ea typeface="C059"/>
                <a:cs typeface="C059"/>
              </a:rPr>
              <a:t>1G / 2G Repeaters:</a:t>
            </a:r>
            <a:r>
              <a:rPr lang="fr-FR" sz="2200">
                <a:latin typeface="C059"/>
                <a:ea typeface="C059"/>
                <a:cs typeface="C059"/>
              </a:rPr>
              <a:t> </a:t>
            </a:r>
            <a:r>
              <a:rPr sz="2200">
                <a:latin typeface="C059"/>
                <a:ea typeface="C059"/>
                <a:cs typeface="C059"/>
              </a:rPr>
              <a:t>Require matter-based quantum memories and slow round-trip classical heralding ($2L/c$).</a:t>
            </a:r>
            <a:endParaRPr sz="2200">
              <a:latin typeface="C059"/>
              <a:ea typeface="C059"/>
              <a:cs typeface="C059"/>
            </a:endParaRPr>
          </a:p>
          <a:p>
            <a:pPr algn="l">
              <a:defRPr/>
            </a:pPr>
            <a:endParaRPr sz="2200">
              <a:latin typeface="C059"/>
              <a:cs typeface="C059"/>
            </a:endParaRPr>
          </a:p>
          <a:p>
            <a:pPr algn="l">
              <a:defRPr/>
            </a:pPr>
            <a:r>
              <a:rPr lang="fr-FR" sz="2200" b="1">
                <a:latin typeface="C059"/>
                <a:ea typeface="C059"/>
                <a:cs typeface="C059"/>
              </a:rPr>
              <a:t>3</a:t>
            </a:r>
            <a:r>
              <a:rPr sz="2200" b="1">
                <a:latin typeface="C059"/>
                <a:ea typeface="C059"/>
                <a:cs typeface="C059"/>
              </a:rPr>
              <a:t>G All-Photonic Repeaters (Azuma et al., 2015):</a:t>
            </a:r>
            <a:endParaRPr sz="2200">
              <a:latin typeface="C059"/>
              <a:ea typeface="C059"/>
              <a:cs typeface="C059"/>
            </a:endParaRPr>
          </a:p>
          <a:p>
            <a:pPr marL="283879" indent="-283879" algn="l">
              <a:buFont typeface="Arial"/>
              <a:buChar char="–"/>
              <a:defRPr/>
            </a:pPr>
            <a:r>
              <a:rPr sz="2200">
                <a:latin typeface="C059"/>
                <a:ea typeface="C059"/>
                <a:cs typeface="C059"/>
              </a:rPr>
              <a:t>Eliminate intermediate quantum memories entirely.</a:t>
            </a:r>
            <a:endParaRPr sz="2200">
              <a:latin typeface="C059"/>
              <a:cs typeface="C059"/>
            </a:endParaRPr>
          </a:p>
          <a:p>
            <a:pPr marL="283879" indent="-283879" algn="l">
              <a:buFont typeface="Arial"/>
              <a:buChar char="–"/>
              <a:defRPr/>
            </a:pPr>
            <a:r>
              <a:rPr sz="2200">
                <a:latin typeface="C059"/>
                <a:ea typeface="C059"/>
                <a:cs typeface="C059"/>
              </a:rPr>
              <a:t>Encode logical qubits into Repeater Graph States (RGS)** with tree-encoded inner qubits to tolerate photon loss.</a:t>
            </a:r>
            <a:endParaRPr sz="2200">
              <a:latin typeface="C059"/>
              <a:cs typeface="C059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3</Slides>
  <Notes>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Theme 1</vt:lpstr>
      <vt:lpstr>Slide 1</vt:lpstr>
      <vt:lpstr>Slide 2</vt:lpstr>
      <vt:lpstr>Slide 3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2026-09-25T11:30:01Z</dcterms:modified>
</cp:coreProperties>
</file>